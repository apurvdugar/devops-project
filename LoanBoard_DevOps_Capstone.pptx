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fintech loan application manager with a full DevOps lifecycle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is my own (fintech loans), DevOps layer follows the TaskBoard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code -&gt; pipeline -&gt; registry -&gt; cluster on AWS, with monitoring and GitOps.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Loom demo link in the README for the live pipeline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Remind: terraform destroy was run after evaluation to avoid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commit a small change, show the Actions run go green, then show the pods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LoanBoard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DD3FC"/>
                </a:solidFill>
              </a:rPr>
              <a:t>End-to-End Production DevOps Capstone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Session 21 Final Capstone  |  Apurv  |  Scaler School of Technology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github.com/apurvdugar/devops-project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LoanBoard?</a:t>
            </a:r>
            <a:endParaRPr lang="en-US" sz="26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051560"/>
            <a:ext cx="4206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Loan application manager: create loans, track status, EMI calculated server-side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Status flow: submitted &gt; under review &gt; approved / rejected &gt; disbursed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Backend: FastAPI + SQLAlchemy + Alembic, PostgreSQL 16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Frontend: React + Vite, served by Nginx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Full DevOps layer: Docker, CI/CD, Trivy, Terraform, Kubernetes, Helm, Prometheus, Grafana, Argo CD</a:t>
            </a:r>
            <a:endParaRPr lang="en-US" sz="1500" dirty="0"/>
          </a:p>
        </p:txBody>
      </p:sp>
      <p:pic>
        <p:nvPicPr>
          <p:cNvPr id="5" name="Image 0" descr="img/imag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097280"/>
            <a:ext cx="3931920" cy="236352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846320" y="35065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LoanBoard dashboard (React frontend)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push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286000" y="1371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&gt;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651760" y="11887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5176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Actions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test, scan, build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371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&gt;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846320" y="11887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GHCR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SHA-tagged images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1371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&gt;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040880" y="11887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0FA38F"/>
          </a:solidFill>
          <a:ln w="12700">
            <a:solidFill>
              <a:srgbClr val="0FA3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088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EKS on AWS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(Terraform)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468880"/>
            <a:ext cx="2651760" cy="2103120"/>
          </a:xfrm>
          <a:prstGeom prst="rect">
            <a:avLst/>
          </a:prstGeom>
          <a:solidFill>
            <a:srgbClr val="F3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468880"/>
            <a:ext cx="73152" cy="210312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542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</a:rPr>
              <a:t>Inside the cluster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8803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Ingress routes / to frontend and /api to backend.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Backend and frontend: 2 replicas each, ClusterIP services.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PostgreSQL with a 5Gi persistent volume.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246120" y="2468880"/>
            <a:ext cx="2651760" cy="2103120"/>
          </a:xfrm>
          <a:prstGeom prst="rect">
            <a:avLst/>
          </a:prstGeom>
          <a:solidFill>
            <a:srgbClr val="F3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46120" y="2468880"/>
            <a:ext cx="73152" cy="2103120"/>
          </a:xfrm>
          <a:prstGeom prst="rect">
            <a:avLst/>
          </a:prstGeom>
          <a:solidFill>
            <a:srgbClr val="0FA38F"/>
          </a:solidFill>
          <a:ln w="12700">
            <a:solidFill>
              <a:srgbClr val="0FA3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29000" y="2542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</a:rPr>
              <a:t>Observability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429000" y="28803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Backend exposes /metrics.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Prometheus scrapes via ServiceMonitor.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Grafana shows requests, errors, latency.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035040" y="2468880"/>
            <a:ext cx="2651760" cy="2103120"/>
          </a:xfrm>
          <a:prstGeom prst="rect">
            <a:avLst/>
          </a:prstGeom>
          <a:solidFill>
            <a:srgbClr val="F3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2468880"/>
            <a:ext cx="73152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2542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</a:rPr>
              <a:t>GitOps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8803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Argo CD watches helm/loanboard in Git.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Detects drift and self-heals the cluster.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M1 + M2: Application and 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ect">
            <a:avLst/>
          </a:prstGeom>
          <a:solidFill>
            <a:srgbClr val="F3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</a:rPr>
              <a:t>Application (M1)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7 REST endpoints: GET, POST, PUT, PATCH, DELETE on /api/loans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/health, /ready and /metrics endpoints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PostgreSQL table managed by Alembic migrations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Money stored as Decimal, never float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Validation: tenure 6-360 months, rate 1-40%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3474720"/>
          </a:xfrm>
          <a:prstGeom prst="rect">
            <a:avLst/>
          </a:prstGeom>
          <a:solidFill>
            <a:srgbClr val="F3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097280"/>
            <a:ext cx="73152" cy="3474720"/>
          </a:xfrm>
          <a:prstGeom prst="rect">
            <a:avLst/>
          </a:prstGeom>
          <a:solidFill>
            <a:srgbClr val="0FA38F"/>
          </a:solidFill>
          <a:ln w="12700">
            <a:solidFill>
              <a:srgbClr val="0FA3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1704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</a:rPr>
              <a:t>Testing (M2)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0876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12 pytest tests (unit + integration)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Covers EMI math, status transitions, CRUD endpoints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Uses a test database, not production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Known check: 1,00,000 at 12% for 12 months = Rs 8,884.88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Tests run first in CI and fail the build on error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M3 + M4: Git and Docker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ect">
            <a:avLst/>
          </a:prstGeom>
          <a:solidFill>
            <a:srgbClr val="F3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</a:rPr>
              <a:t>Git and GitHub (M3)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Public repo: apurvdugar/devops-project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31+ commits with meaningful messages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.gitignore excludes .env, __pycache__, node_modules, .venv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No secrets committed (Gitleaks scans every push)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3474720"/>
          </a:xfrm>
          <a:prstGeom prst="rect">
            <a:avLst/>
          </a:prstGeom>
          <a:solidFill>
            <a:srgbClr val="F3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097280"/>
            <a:ext cx="73152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1704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</a:rPr>
              <a:t>Docker (M4)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0876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Backend Dockerfile on Python 3.12 slim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Frontend: multi-stage build (Node build, Nginx runtime)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Both images run as non-root users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docker compose up --build starts frontend, backend and postgres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M5 + M6: CI/CD and DevSecOps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515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Test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pytest + npm build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1234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&gt;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606040" y="1051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06040" y="10515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Secure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Gitleaks + Bandit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1234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&gt;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54880" y="10515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Build + Scan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+ Trivy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1234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&gt;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903720" y="1051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10515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Push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GHCR, SHA tag</a:t>
            </a:r>
            <a:endParaRPr lang="en-US" sz="1500" dirty="0"/>
          </a:p>
        </p:txBody>
      </p:sp>
      <p:sp>
        <p:nvSpPr>
          <p:cNvPr id="15" name="Bullets"/>
          <p:cNvSpPr txBox="1"/>
          <p:nvPr/>
        </p:nvSpPr>
        <p:spPr>
          <a:xfrm>
            <a:off x="457200" y="219456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GitHub Actions runs on every push to main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 failing test stops the pipeline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Trivy scans both images and fails on HIGH or CRITICAL CVEs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Images are tagged with the Git commit SHA, not latest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754880" y="2194560"/>
            <a:ext cx="3931920" cy="2331720"/>
          </a:xfrm>
          <a:prstGeom prst="rect">
            <a:avLst/>
          </a:prstGeom>
          <a:solidFill>
            <a:srgbClr val="F3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2194560"/>
            <a:ext cx="73152" cy="2331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37760" y="2267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</a:rPr>
              <a:t>Trivy result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2606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Trivy scanned OS layers and pip/npm packages. It first flagged starlette, urllib3, msgpack and setuptools. I pinned patched versions, and the final run shows 0 HIGH or CRITICAL findings.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M7: Terraform on AWS</a:t>
            </a:r>
            <a:endParaRPr lang="en-US" sz="26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05156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Custom VPC 10.20.0.0/16 across 2 availability zones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Public and private subnets, Internet and NAT gateways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EKS cluster v1.31 with managed node group (t3.medium, min 2, max 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Commands: init, validate, plan, apply, destroy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 credentials committed; tfvars example only</a:t>
            </a:r>
            <a:endParaRPr lang="en-US" sz="1400" dirty="0"/>
          </a:p>
        </p:txBody>
      </p:sp>
      <p:pic>
        <p:nvPicPr>
          <p:cNvPr id="5" name="Image 0" descr="img/imag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1489" y="1005840"/>
            <a:ext cx="3207262" cy="1737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66344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EKS cluster in AWS Console</a:t>
            </a:r>
            <a:endParaRPr lang="en-US" sz="1000" dirty="0"/>
          </a:p>
        </p:txBody>
      </p:sp>
      <p:pic>
        <p:nvPicPr>
          <p:cNvPr id="7" name="Image 1" descr="img/image-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624" y="3063240"/>
            <a:ext cx="2862992" cy="1554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4663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VPC provisioned by Terraform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M8: Kubernetes and Helm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051560"/>
            <a:ext cx="4206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Namespace loanboard with ConfigMap, Secret and 5Gi PVC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Backend and frontend: 2 replicas each, with health probes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ClusterIP services; Ingress: / to frontend, /api to backend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HPA scales pods from 2 to 5 on CPU and memory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Helm chart with values-dev.yaml and values-prod.yaml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Deploy: helm upgrade --install loanboard helm/loanboard</a:t>
            </a:r>
            <a:endParaRPr lang="en-US" sz="1400" dirty="0"/>
          </a:p>
        </p:txBody>
      </p:sp>
      <p:pic>
        <p:nvPicPr>
          <p:cNvPr id="4" name="Image 0" descr="img/imag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097280"/>
            <a:ext cx="3931920" cy="10549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46320" y="219795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kubectl get pods and services, all Running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M9: Observability and GitOps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05156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/metrics endpoint exposed by FastAPI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kube-prometheus-stack in the monitoring namespace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ServiceMonitor scrapes the backend every 15s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Grafana dashboard: request rate, errors, p50/p95/p99 latency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Argo CD keeps the cluster in sync with Git and self-heals</a:t>
            </a:r>
            <a:endParaRPr lang="en-US" sz="1400" dirty="0"/>
          </a:p>
        </p:txBody>
      </p:sp>
      <p:pic>
        <p:nvPicPr>
          <p:cNvPr id="4" name="Image 0" descr="img/imag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556" y="1005840"/>
            <a:ext cx="2706248" cy="1691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480560" y="2743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Grafana dashboard with live metrics</a:t>
            </a:r>
            <a:endParaRPr lang="en-US" sz="1000" dirty="0"/>
          </a:p>
        </p:txBody>
      </p:sp>
      <p:pic>
        <p:nvPicPr>
          <p:cNvPr id="6" name="Image 1" descr="img/image-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774" y="3063240"/>
            <a:ext cx="2379813" cy="1371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480560" y="4480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Argo CD application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Lessons Learned and Live Demo</a:t>
            </a:r>
            <a:endParaRPr lang="en-US" sz="26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05156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Security scans in CI catch problems before images reach the registry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GitOps removes configuration drift: Git is the source of truth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One Helm chart with dev and prod values avoids duplicate manifests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Probes plus autoscaling keep the app reliable under 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Troubleshooting routine: get, describe, logs, fix, verify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0" y="1097280"/>
            <a:ext cx="3200400" cy="32918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0" y="128016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Live demo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1. Commit a change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2. Watch the pipeline run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3. See the deployment update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7DD3FC"/>
                </a:solidFill>
              </a:rPr>
              <a:t>Thank you!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anBoard">
  <a:themeElements>
    <a:clrScheme name="LoanBoard">
      <a:dk1>
        <a:srgbClr val="1F2937"/>
      </a:dk1>
      <a:lt1>
        <a:srgbClr val="FFFFFF"/>
      </a:lt1>
      <a:dk2>
        <a:srgbClr val="0F2A47"/>
      </a:dk2>
      <a:lt2>
        <a:srgbClr val="F3F6FA"/>
      </a:lt2>
      <a:accent1>
        <a:srgbClr val="1D6FD8"/>
      </a:accent1>
      <a:accent2>
        <a:srgbClr val="0FA38F"/>
      </a:accent2>
      <a:accent3>
        <a:srgbClr val="F59E0B"/>
      </a:accent3>
      <a:accent4>
        <a:srgbClr val="7C3AED"/>
      </a:accent4>
      <a:accent5>
        <a:srgbClr val="DC2626"/>
      </a:accent5>
      <a:accent6>
        <a:srgbClr val="64748B"/>
      </a:accent6>
      <a:hlink>
        <a:srgbClr val="1D6FD8"/>
      </a:hlink>
      <a:folHlink>
        <a:srgbClr val="7C3AED"/>
      </a:folHlink>
    </a:clrScheme>
    <a:fontScheme name="LoanBo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LoanBoard - End-to-End DevOps Capstone</dc:title>
  <dc:subject>PptxGenJS Presentation</dc:subject>
  <dc:creator>PptxGenJS</dc:creator>
  <cp:lastModifiedBy>PptxGenJS</cp:lastModifiedBy>
  <cp:revision>1</cp:revision>
  <dcterms:created xsi:type="dcterms:W3CDTF">2026-10-16T13:07:25Z</dcterms:created>
  <dcterms:modified xsi:type="dcterms:W3CDTF">2026-10-16T13:07:25Z</dcterms:modified>
</cp:coreProperties>
</file>